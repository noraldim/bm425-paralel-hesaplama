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257" r:id="rId3"/>
    <p:sldId id="266" r:id="rId5"/>
    <p:sldId id="274" r:id="rId6"/>
    <p:sldId id="287" r:id="rId7"/>
    <p:sldId id="271" r:id="rId8"/>
    <p:sldId id="282" r:id="rId9"/>
    <p:sldId id="267" r:id="rId10"/>
    <p:sldId id="270" r:id="rId11"/>
    <p:sldId id="272" r:id="rId12"/>
    <p:sldId id="268" r:id="rId13"/>
    <p:sldId id="269" r:id="rId14"/>
    <p:sldId id="285" r:id="rId15"/>
    <p:sldId id="286" r:id="rId16"/>
    <p:sldId id="273" r:id="rId17"/>
    <p:sldId id="283" r:id="rId18"/>
    <p:sldId id="276" r:id="rId19"/>
    <p:sldId id="275" r:id="rId20"/>
    <p:sldId id="284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3B4B98B0-60AC-42C2-AFA5-B58CD77FA1E5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89911" autoAdjust="0"/>
  </p:normalViewPr>
  <p:slideViewPr>
    <p:cSldViewPr snapToGrid="0" showGuides="1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</a:fld>
            <a:endParaRPr lang="tr-T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</a:fld>
            <a:endParaRPr lang="tr-T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 hasCustomPrompt="1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 hasCustomPrompt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135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 hasCustomPrompt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 hasCustomPrompt="1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 hasCustomPrompt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 hasCustomPrompt="1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 hasCustomPrompt="1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 hasCustomPrompt="1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1" hasCustomPrompt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 hasCustomPrompt="1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889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 hasCustomPrompt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 hasCustomPrompt="1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  <a:endParaRPr lang="tr-TR" noProof="0" smtClean="0"/>
          </a:p>
          <a:p>
            <a:pPr lvl="1" rtl="0" eaLnBrk="1" latinLnBrk="0" hangingPunct="1"/>
            <a:r>
              <a:rPr lang="tr-TR" noProof="0" smtClean="0"/>
              <a:t>İkinci düzey</a:t>
            </a:r>
            <a:endParaRPr lang="tr-TR" noProof="0" smtClean="0"/>
          </a:p>
          <a:p>
            <a:pPr lvl="2" rtl="0" eaLnBrk="1" latinLnBrk="0" hangingPunct="1"/>
            <a:r>
              <a:rPr lang="tr-TR" noProof="0" smtClean="0"/>
              <a:t>Üçüncü düzey</a:t>
            </a:r>
            <a:endParaRPr lang="tr-TR" noProof="0" smtClean="0"/>
          </a:p>
          <a:p>
            <a:pPr lvl="3" rtl="0" eaLnBrk="1" latinLnBrk="0" hangingPunct="1"/>
            <a:r>
              <a:rPr lang="tr-TR" noProof="0" smtClean="0"/>
              <a:t>Dördüncü düzey</a:t>
            </a:r>
            <a:endParaRPr lang="tr-TR" noProof="0" smtClean="0"/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  <a:endParaRPr lang="tr-TR" noProof="0" dirty="0"/>
          </a:p>
          <a:p>
            <a:pPr lvl="1" rtl="0" eaLnBrk="1" latinLnBrk="0" hangingPunct="1"/>
            <a:r>
              <a:rPr lang="tr-TR" noProof="0" dirty="0"/>
              <a:t>İkinci düzey</a:t>
            </a:r>
            <a:endParaRPr lang="tr-TR" noProof="0" dirty="0"/>
          </a:p>
          <a:p>
            <a:pPr lvl="2" rtl="0" eaLnBrk="1" latinLnBrk="0" hangingPunct="1"/>
            <a:r>
              <a:rPr lang="tr-TR" noProof="0" dirty="0"/>
              <a:t>Üçüncü düzey</a:t>
            </a:r>
            <a:endParaRPr lang="tr-TR" noProof="0" dirty="0"/>
          </a:p>
          <a:p>
            <a:pPr lvl="3" rtl="0" eaLnBrk="1" latinLnBrk="0" hangingPunct="1"/>
            <a:r>
              <a:rPr lang="tr-TR" noProof="0" dirty="0"/>
              <a:t>Dördüncü düzey</a:t>
            </a:r>
            <a:endParaRPr lang="tr-TR" noProof="0" dirty="0"/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  <a:endParaRPr lang="tr-TR" noProof="0" dirty="0"/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  <a:endParaRPr lang="tr-TR" noProof="0" dirty="0"/>
          </a:p>
          <a:p>
            <a:pPr lvl="1" rtl="0"/>
            <a:r>
              <a:rPr lang="tr-TR" noProof="0" dirty="0"/>
              <a:t>İkinci düzey</a:t>
            </a:r>
            <a:endParaRPr lang="tr-TR" noProof="0" dirty="0"/>
          </a:p>
          <a:p>
            <a:pPr lvl="2" rtl="0"/>
            <a:r>
              <a:rPr lang="tr-TR" noProof="0" dirty="0"/>
              <a:t>Üçüncü düzey</a:t>
            </a:r>
            <a:endParaRPr lang="tr-TR" noProof="0" dirty="0"/>
          </a:p>
          <a:p>
            <a:pPr lvl="3" rtl="0"/>
            <a:r>
              <a:rPr lang="tr-TR" noProof="0" dirty="0"/>
              <a:t>Dördüncü düzey</a:t>
            </a:r>
            <a:endParaRPr lang="tr-TR" noProof="0" dirty="0"/>
          </a:p>
          <a:p>
            <a:pPr lvl="4" rtl="0"/>
            <a:r>
              <a:rPr lang="tr-TR" noProof="0" dirty="0"/>
              <a:t>Beşinci düzey</a:t>
            </a:r>
            <a:endParaRPr lang="tr-TR" noProof="0" dirty="0"/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  <a:endParaRPr lang="tr-TR" noProof="0" dirty="0"/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</a:fld>
            <a:endParaRPr lang="tr-TR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 panose="02040502050405020303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495" indent="-247015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 panose="02040502050405020303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290" indent="-21971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830" indent="-201295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9001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09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30095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GIF"/><Relationship Id="rId1" Type="http://schemas.openxmlformats.org/officeDocument/2006/relationships/image" Target="../media/image2.GI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video" Target="NUL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Deadlock</a:t>
            </a:r>
            <a:r>
              <a:rPr lang="tr-TR" dirty="0" smtClean="0"/>
              <a:t>(Ölümcül Kilitlenme)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Ölümcül kilitlenme birden çok </a:t>
            </a:r>
            <a:r>
              <a:rPr lang="tr-TR" dirty="0" err="1" smtClean="0"/>
              <a:t>Thread</a:t>
            </a:r>
            <a:r>
              <a:rPr lang="tr-TR" dirty="0" smtClean="0"/>
              <a:t> veya </a:t>
            </a:r>
            <a:r>
              <a:rPr lang="tr-TR" dirty="0" err="1" smtClean="0"/>
              <a:t>Process’in</a:t>
            </a:r>
            <a:r>
              <a:rPr lang="tr-TR" dirty="0" smtClean="0"/>
              <a:t> </a:t>
            </a:r>
            <a:r>
              <a:rPr lang="tr-TR" dirty="0" err="1" smtClean="0"/>
              <a:t>race</a:t>
            </a:r>
            <a:r>
              <a:rPr lang="tr-TR" dirty="0" smtClean="0"/>
              <a:t> </a:t>
            </a:r>
            <a:r>
              <a:rPr lang="tr-TR" dirty="0" err="1" smtClean="0"/>
              <a:t>condition</a:t>
            </a:r>
            <a:r>
              <a:rPr lang="tr-TR" dirty="0" smtClean="0"/>
              <a:t> durumuna düşerek işlemlerine devam edebilmek için birbirlerinin işlemlerinin bitmesini bekleme durumudur.</a:t>
            </a:r>
            <a:endParaRPr lang="tr-TR" dirty="0" smtClean="0"/>
          </a:p>
          <a:p>
            <a:r>
              <a:rPr lang="tr-TR" dirty="0" smtClean="0"/>
              <a:t>Bir başka deyişle işlem 1’in devam edebilmesi için işlem 2’nin çıktısına ihtiyaç duyması ve işlem 2’ninde devam edebilmesi için işlem 1’in çıktısına ihtiyaç duyması şeklinde açıklanabilir.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ym typeface="+mn-ea"/>
              </a:rPr>
              <a:t>Deadlock</a:t>
            </a:r>
            <a:r>
              <a:rPr lang="tr-TR" dirty="0" smtClean="0">
                <a:sym typeface="+mn-ea"/>
              </a:rPr>
              <a:t>(Ölümcül Kilitlenme)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" altLang="en-US" dirty="0"/>
              <a:t>İş</a:t>
            </a:r>
            <a:r>
              <a:rPr lang="en-US" altLang="tr-TR" dirty="0"/>
              <a:t>lemler uyur (blocked) vaziyettedir.</a:t>
            </a:r>
            <a:endParaRPr lang="en-US" altLang="tr-TR" dirty="0"/>
          </a:p>
          <a:p>
            <a:r>
              <a:rPr lang="en-US" altLang="tr-TR" dirty="0"/>
              <a:t>CPU Kullan</a:t>
            </a:r>
            <a:r>
              <a:rPr lang="" altLang="en-US" dirty="0"/>
              <a:t>ı</a:t>
            </a:r>
            <a:r>
              <a:rPr lang="en-US" altLang="tr-TR" dirty="0"/>
              <a:t>m</a:t>
            </a:r>
            <a:r>
              <a:rPr lang="" altLang="en-US" dirty="0"/>
              <a:t>ı</a:t>
            </a:r>
            <a:r>
              <a:rPr lang="en-US" altLang="tr-TR" dirty="0"/>
              <a:t> %0 (veya </a:t>
            </a:r>
            <a:r>
              <a:rPr lang="" altLang="en-US" dirty="0"/>
              <a:t>ç</a:t>
            </a:r>
            <a:r>
              <a:rPr lang="en-US" altLang="tr-TR" dirty="0"/>
              <a:t>ok d</a:t>
            </a:r>
            <a:r>
              <a:rPr lang="en-US" altLang="en-US" dirty="0"/>
              <a:t>ü</a:t>
            </a:r>
            <a:r>
              <a:rPr lang="" altLang="en-US" dirty="0"/>
              <a:t>ş</a:t>
            </a:r>
            <a:r>
              <a:rPr lang="en-US" altLang="en-US" dirty="0"/>
              <a:t>ü</a:t>
            </a:r>
            <a:r>
              <a:rPr lang="en-US" altLang="tr-TR" dirty="0"/>
              <a:t>kt</a:t>
            </a:r>
            <a:r>
              <a:rPr lang="en-US" altLang="en-US" dirty="0"/>
              <a:t>ü</a:t>
            </a:r>
            <a:r>
              <a:rPr lang="en-US" altLang="tr-TR" dirty="0"/>
              <a:t>r). </a:t>
            </a:r>
            <a:r>
              <a:rPr lang="" altLang="en-US" dirty="0"/>
              <a:t>Ç</a:t>
            </a:r>
            <a:r>
              <a:rPr lang="en-US" altLang="en-US" dirty="0"/>
              <a:t>ü</a:t>
            </a:r>
            <a:r>
              <a:rPr lang="en-US" altLang="tr-TR" dirty="0"/>
              <a:t>nk</a:t>
            </a:r>
            <a:r>
              <a:rPr lang="en-US" altLang="en-US" dirty="0"/>
              <a:t>ü</a:t>
            </a:r>
            <a:r>
              <a:rPr lang="en-US" altLang="tr-TR" dirty="0"/>
              <a:t> kimse hareket etmez, herkes bekler.</a:t>
            </a:r>
            <a:endParaRPr lang="en-US" altLang="tr-TR" dirty="0"/>
          </a:p>
          <a:p>
            <a:r>
              <a:rPr lang="en-US" altLang="tr-TR" dirty="0"/>
              <a:t>D</a:t>
            </a:r>
            <a:r>
              <a:rPr lang="" altLang="en-US" dirty="0"/>
              <a:t>ış</a:t>
            </a:r>
            <a:r>
              <a:rPr lang="en-US" altLang="tr-TR" dirty="0"/>
              <a:t>ar</a:t>
            </a:r>
            <a:r>
              <a:rPr lang="" altLang="en-US" dirty="0"/>
              <a:t>ı</a:t>
            </a:r>
            <a:r>
              <a:rPr lang="en-US" altLang="tr-TR" dirty="0"/>
              <a:t>dan m</a:t>
            </a:r>
            <a:r>
              <a:rPr lang="en-US" altLang="en-US" dirty="0"/>
              <a:t>ü</a:t>
            </a:r>
            <a:r>
              <a:rPr lang="en-US" altLang="tr-TR" dirty="0"/>
              <a:t>dahale (Process kill) veya sistemi yeniden ba</a:t>
            </a:r>
            <a:r>
              <a:rPr lang="" altLang="en-US" dirty="0"/>
              <a:t>ş</a:t>
            </a:r>
            <a:r>
              <a:rPr lang="en-US" altLang="tr-TR" dirty="0"/>
              <a:t>latma gerekir. Kendi kendine </a:t>
            </a:r>
            <a:r>
              <a:rPr lang="" altLang="en-US" dirty="0"/>
              <a:t>ç</a:t>
            </a:r>
            <a:r>
              <a:rPr lang="en-US" altLang="en-US" dirty="0"/>
              <a:t>ö</a:t>
            </a:r>
            <a:r>
              <a:rPr lang="en-US" altLang="tr-TR" dirty="0"/>
              <a:t>z</a:t>
            </a:r>
            <a:r>
              <a:rPr lang="en-US" altLang="en-US" dirty="0"/>
              <a:t>ü</a:t>
            </a:r>
            <a:r>
              <a:rPr lang="en-US" altLang="tr-TR" dirty="0"/>
              <a:t>lmez.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ym typeface="+mn-ea"/>
              </a:rPr>
              <a:t>Deadlock</a:t>
            </a:r>
            <a:r>
              <a:rPr lang="tr-TR" dirty="0" smtClean="0">
                <a:sym typeface="+mn-ea"/>
              </a:rPr>
              <a:t>(Ölümcül Kilitlenme)</a:t>
            </a:r>
            <a:endParaRPr lang="tr-TR" dirty="0"/>
          </a:p>
        </p:txBody>
      </p:sp>
      <p:pic>
        <p:nvPicPr>
          <p:cNvPr id="5" name="Resim 4" descr="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975" y="2661920"/>
            <a:ext cx="4697095" cy="2642235"/>
          </a:xfrm>
          <a:prstGeom prst="rect">
            <a:avLst/>
          </a:prstGeom>
        </p:spPr>
      </p:pic>
      <p:pic>
        <p:nvPicPr>
          <p:cNvPr id="6" name="Resim 5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785" y="2661285"/>
            <a:ext cx="3402965" cy="2642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ym typeface="+mn-ea"/>
              </a:rPr>
              <a:t>Deadlock</a:t>
            </a:r>
            <a:r>
              <a:rPr lang="tr-TR" dirty="0" smtClean="0">
                <a:sym typeface="+mn-ea"/>
              </a:rPr>
              <a:t>(Ölümcül Kilitlenme)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855" indent="0">
              <a:buNone/>
            </a:pPr>
            <a:r>
              <a:rPr lang="tr-TR" dirty="0"/>
              <a:t>Deadlock meydana gelebilmesi için aynı anda şu 4 şartın(Coffman Conditions) gerçekleşmesi gerekir:</a:t>
            </a:r>
            <a:endParaRPr lang="tr-TR" dirty="0"/>
          </a:p>
          <a:p>
            <a:pPr marL="624205" indent="-514350">
              <a:buAutoNum type="arabicPeriod"/>
            </a:pPr>
            <a:r>
              <a:rPr lang="tr-TR" dirty="0"/>
              <a:t>Mutual Exclusion(Karşılıklı Dışlama): Bir kaynağın aynı anda sadece bir işlem tarafından kullanılabilmesi.</a:t>
            </a:r>
            <a:endParaRPr lang="tr-TR" dirty="0"/>
          </a:p>
          <a:p>
            <a:pPr marL="624205" indent="-514350">
              <a:buAutoNum type="arabicPeriod"/>
            </a:pPr>
            <a:r>
              <a:rPr lang="tr-TR" dirty="0"/>
              <a:t>Hold and Wait(Tut ve Bekle): Bir işlemin elindeki kaynağı bırakmadan yeni bir kaynak istemesi.</a:t>
            </a:r>
            <a:endParaRPr lang="tr-TR" dirty="0"/>
          </a:p>
          <a:p>
            <a:pPr marL="624205" indent="-514350">
              <a:buAutoNum type="arabicPeriod"/>
            </a:pPr>
            <a:r>
              <a:rPr lang="tr-TR" dirty="0"/>
              <a:t>No preemption(Kesinti Yok): Kaynağın, onu tutan işlemden zorla alınamaması.</a:t>
            </a:r>
            <a:endParaRPr lang="tr-TR" dirty="0"/>
          </a:p>
          <a:p>
            <a:pPr marL="624205" indent="-514350">
              <a:buAutoNum type="arabicPeriod"/>
            </a:pPr>
            <a:r>
              <a:rPr lang="tr-TR" dirty="0"/>
              <a:t>Circular Wait(Döngüsel Bekleme): İşlemlerin birbirini dairesel bir zincir şeklinde beklemesi.</a:t>
            </a:r>
            <a:endParaRPr 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>
                <a:sym typeface="+mn-ea"/>
              </a:rPr>
              <a:t>Deadlock</a:t>
            </a:r>
            <a:r>
              <a:rPr lang="tr-TR" dirty="0" smtClean="0">
                <a:sym typeface="+mn-ea"/>
              </a:rPr>
              <a:t>(Ölümcül Kilitlenme)</a:t>
            </a:r>
            <a:endParaRPr lang="tr-TR" dirty="0"/>
          </a:p>
        </p:txBody>
      </p:sp>
      <p:pic>
        <p:nvPicPr>
          <p:cNvPr id="4" name="Resim 3" descr="d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810" y="2209800"/>
            <a:ext cx="4055745" cy="3648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Deadlock</a:t>
            </a:r>
            <a:r>
              <a:rPr lang="tr-TR" dirty="0" smtClean="0"/>
              <a:t>(Ölümcül Kilitlenme)</a:t>
            </a:r>
            <a:endParaRPr lang="tr-TR" dirty="0"/>
          </a:p>
        </p:txBody>
      </p:sp>
      <p:pic>
        <p:nvPicPr>
          <p:cNvPr id="4" name="1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>
                  <p14:trim st="8000.000000" end="6479.000000"/>
                </p14:media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921000" y="2249488"/>
            <a:ext cx="6350000" cy="432435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Deadlock</a:t>
            </a:r>
            <a:r>
              <a:rPr lang="tr-TR" dirty="0" smtClean="0"/>
              <a:t>(Ölümcül Kilitlenme)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25000"/>
          </a:bodyPr>
          <a:lstStyle/>
          <a:p>
            <a:pPr marL="109855" indent="0">
              <a:buNone/>
            </a:pPr>
            <a:r>
              <a:rPr lang="en-US" altLang="tr-TR" dirty="0"/>
              <a:t>from threading import Lock, Thread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import time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kirmizi_robot(kilit1, kilit2):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while True: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print("Kirmizi kilit1'e erisiyor...")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kilit1.acquire()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print("Kirmizi kilit2'ye erisiyor...")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kilit2.acquire()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print("Kirmizi tum kilitlere eristi")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kilit1.release()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kilit2.release()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print("Kirmizi tum kilitleri serbest birakti!")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time.sleep(0.5)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def mavi_robot(kilit1, kilit2):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while True: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print("Mavi kilit2'ye erisiyor...")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kilit2.acquire()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print("Mavi kilit1'e erisiyor...")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kilit1.acquire()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print("Mavi tum kilitlere eristi")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kilit1.release()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kilit2.release()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print("Mavi tum kilitleri serbest birakti!")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        time.sleep(0.5)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mutex1 = Lock()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mutex2 = Lock()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kirmizi = Thread(target=kirmizi_robot, args=(mutex1, mutex2))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mavi = Thread(target=mavi_robot, args=(mutex1, mutex2))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kirmizi.start()</a:t>
            </a:r>
            <a:endParaRPr lang="en-US" altLang="tr-TR" dirty="0"/>
          </a:p>
          <a:p>
            <a:pPr marL="109855" indent="0">
              <a:buNone/>
            </a:pPr>
            <a:r>
              <a:rPr lang="en-US" altLang="tr-TR" dirty="0"/>
              <a:t>mavi.start()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Nasıl Çözülür?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altLang="en-US" dirty="0"/>
              <a:t>Sorun: </a:t>
            </a:r>
            <a:r>
              <a:rPr lang="en-US" altLang="tr-TR" dirty="0"/>
              <a:t>kirmizi_robot </a:t>
            </a:r>
            <a:r>
              <a:rPr lang="en-US" altLang="en-US" dirty="0"/>
              <a:t>ö</a:t>
            </a:r>
            <a:r>
              <a:rPr lang="en-US" altLang="tr-TR" dirty="0"/>
              <a:t>nce mutex1 sonra mutex2'yi al</a:t>
            </a:r>
            <a:r>
              <a:rPr lang="" altLang="en-US" dirty="0"/>
              <a:t>ı</a:t>
            </a:r>
            <a:r>
              <a:rPr lang="en-US" altLang="tr-TR" dirty="0"/>
              <a:t>rken; mavi_robot tam tersini yap</a:t>
            </a:r>
            <a:r>
              <a:rPr lang="" altLang="en-US" dirty="0"/>
              <a:t>ı</a:t>
            </a:r>
            <a:r>
              <a:rPr lang="en-US" altLang="tr-TR" dirty="0"/>
              <a:t>yor (</a:t>
            </a:r>
            <a:r>
              <a:rPr lang="en-US" altLang="en-US" dirty="0"/>
              <a:t>ö</a:t>
            </a:r>
            <a:r>
              <a:rPr lang="en-US" altLang="tr-TR" dirty="0"/>
              <a:t>nce mutex2 sonra mutex1). Bu "Circular Wait" </a:t>
            </a:r>
            <a:r>
              <a:rPr lang="tr-TR" altLang="en-US" dirty="0"/>
              <a:t>meydana getirir</a:t>
            </a:r>
            <a:r>
              <a:rPr lang="en-US" altLang="tr-TR" dirty="0"/>
              <a:t>.</a:t>
            </a:r>
            <a:endParaRPr lang="en-US" altLang="tr-TR" dirty="0"/>
          </a:p>
          <a:p>
            <a:r>
              <a:rPr lang="" altLang="en-US" dirty="0"/>
              <a:t>Ç</a:t>
            </a:r>
            <a:r>
              <a:rPr lang="en-US" altLang="en-US" dirty="0"/>
              <a:t>ö</a:t>
            </a:r>
            <a:r>
              <a:rPr lang="en-US" altLang="tr-TR" dirty="0"/>
              <a:t>z</a:t>
            </a:r>
            <a:r>
              <a:rPr lang="en-US" altLang="en-US" dirty="0"/>
              <a:t>ü</a:t>
            </a:r>
            <a:r>
              <a:rPr lang="en-US" altLang="tr-TR" dirty="0"/>
              <a:t>m 1 (S</a:t>
            </a:r>
            <a:r>
              <a:rPr lang="" altLang="en-US" dirty="0"/>
              <a:t>ı</a:t>
            </a:r>
            <a:r>
              <a:rPr lang="en-US" altLang="tr-TR" dirty="0"/>
              <a:t>ralama): Her iki robotun da kilitleri ayn</a:t>
            </a:r>
            <a:r>
              <a:rPr lang="" altLang="en-US" dirty="0"/>
              <a:t>ı</a:t>
            </a:r>
            <a:r>
              <a:rPr lang="en-US" altLang="tr-TR" dirty="0"/>
              <a:t> s</a:t>
            </a:r>
            <a:r>
              <a:rPr lang="" altLang="en-US" dirty="0"/>
              <a:t>ı</a:t>
            </a:r>
            <a:r>
              <a:rPr lang="en-US" altLang="tr-TR" dirty="0"/>
              <a:t>rayla (</a:t>
            </a:r>
            <a:r>
              <a:rPr lang="en-US" altLang="en-US" dirty="0"/>
              <a:t>ö</a:t>
            </a:r>
            <a:r>
              <a:rPr lang="en-US" altLang="tr-TR" dirty="0"/>
              <a:t>rne</a:t>
            </a:r>
            <a:r>
              <a:rPr lang="" altLang="en-US" dirty="0"/>
              <a:t>ğ</a:t>
            </a:r>
            <a:r>
              <a:rPr lang="en-US" altLang="tr-TR" dirty="0"/>
              <a:t>in </a:t>
            </a:r>
            <a:r>
              <a:rPr lang="en-US" altLang="en-US" dirty="0"/>
              <a:t>ö</a:t>
            </a:r>
            <a:r>
              <a:rPr lang="en-US" altLang="tr-TR" dirty="0"/>
              <a:t>nce 1, sonra 2) almas</a:t>
            </a:r>
            <a:r>
              <a:rPr lang="" altLang="en-US" dirty="0"/>
              <a:t>ı</a:t>
            </a:r>
            <a:r>
              <a:rPr lang="en-US" altLang="tr-TR" dirty="0"/>
              <a:t>n</a:t>
            </a:r>
            <a:r>
              <a:rPr lang="" altLang="en-US" dirty="0"/>
              <a:t>ı</a:t>
            </a:r>
            <a:r>
              <a:rPr lang="en-US" altLang="tr-TR" dirty="0"/>
              <a:t> sa</a:t>
            </a:r>
            <a:r>
              <a:rPr lang="" altLang="en-US" dirty="0"/>
              <a:t>ğ</a:t>
            </a:r>
            <a:r>
              <a:rPr lang="en-US" altLang="tr-TR" dirty="0"/>
              <a:t>lamak.</a:t>
            </a:r>
            <a:endParaRPr lang="en-US" altLang="tr-TR" dirty="0"/>
          </a:p>
          <a:p>
            <a:r>
              <a:rPr lang="" altLang="en-US" dirty="0"/>
              <a:t>Ç</a:t>
            </a:r>
            <a:r>
              <a:rPr lang="en-US" altLang="en-US" dirty="0"/>
              <a:t>ö</a:t>
            </a:r>
            <a:r>
              <a:rPr lang="en-US" altLang="tr-TR" dirty="0"/>
              <a:t>z</a:t>
            </a:r>
            <a:r>
              <a:rPr lang="en-US" altLang="en-US" dirty="0"/>
              <a:t>ü</a:t>
            </a:r>
            <a:r>
              <a:rPr lang="en-US" altLang="tr-TR" dirty="0"/>
              <a:t>m 2 (Timeout): acquire(timeout=5) kullanarak, kilit al</a:t>
            </a:r>
            <a:r>
              <a:rPr lang="" altLang="en-US" dirty="0"/>
              <a:t>ı</a:t>
            </a:r>
            <a:r>
              <a:rPr lang="en-US" altLang="tr-TR" dirty="0"/>
              <a:t>namazsa i</a:t>
            </a:r>
            <a:r>
              <a:rPr lang="" altLang="en-US" dirty="0"/>
              <a:t>ş</a:t>
            </a:r>
            <a:r>
              <a:rPr lang="en-US" altLang="tr-TR" dirty="0"/>
              <a:t>lemden vazge</a:t>
            </a:r>
            <a:r>
              <a:rPr lang="" altLang="en-US" dirty="0"/>
              <a:t>ç</a:t>
            </a:r>
            <a:r>
              <a:rPr lang="en-US" altLang="tr-TR" dirty="0"/>
              <a:t>ip tekrar denemek.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Deadlock</a:t>
            </a:r>
            <a:r>
              <a:rPr lang="tr-TR" dirty="0" smtClean="0"/>
              <a:t>(Ölümcül Kilitlenme)</a:t>
            </a:r>
            <a:endParaRPr lang="tr-TR" dirty="0"/>
          </a:p>
        </p:txBody>
      </p:sp>
      <p:pic>
        <p:nvPicPr>
          <p:cNvPr id="9" name="s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687513" y="2249488"/>
            <a:ext cx="8815387" cy="432435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Deadlock</a:t>
            </a:r>
            <a:r>
              <a:rPr lang="tr-TR" dirty="0" smtClean="0"/>
              <a:t>(Ölümcül Kilitlenme)</a:t>
            </a:r>
            <a:endParaRPr lang="tr-TR" dirty="0"/>
          </a:p>
        </p:txBody>
      </p:sp>
      <p:pic>
        <p:nvPicPr>
          <p:cNvPr id="4" name="4">
            <a:hlinkClick r:id="" action="ppaction://media"/>
          </p:cNvPr>
          <p:cNvPicPr>
            <a:picLocks noGrp="1" noChangeAspect="1"/>
          </p:cNvPicPr>
          <p:nvPr>
            <p:ph idx="1"/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209925" y="2249488"/>
            <a:ext cx="5772150" cy="432435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Deadlock Çözüm Yöntemleri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4205" indent="-514350">
              <a:buAutoNum type="arabicPeriod"/>
            </a:pPr>
            <a:r>
              <a:rPr lang="en-US" altLang="tr-TR" dirty="0"/>
              <a:t>Ostrich Algorithm (Deveku</a:t>
            </a:r>
            <a:r>
              <a:rPr lang="" altLang="en-US" dirty="0"/>
              <a:t>ş</a:t>
            </a:r>
            <a:r>
              <a:rPr lang="en-US" altLang="tr-TR" dirty="0"/>
              <a:t>u Algoritmas</a:t>
            </a:r>
            <a:r>
              <a:rPr lang="" altLang="en-US" dirty="0"/>
              <a:t>ı</a:t>
            </a:r>
            <a:r>
              <a:rPr lang="en-US" altLang="tr-TR" dirty="0"/>
              <a:t>): Sorunu g</a:t>
            </a:r>
            <a:r>
              <a:rPr lang="en-US" altLang="en-US" dirty="0"/>
              <a:t>ö</a:t>
            </a:r>
            <a:r>
              <a:rPr lang="en-US" altLang="tr-TR" dirty="0"/>
              <a:t>rmezden gel. (Unix/Windows genelde bunu yapar, kullan</a:t>
            </a:r>
            <a:r>
              <a:rPr lang="" altLang="en-US" dirty="0"/>
              <a:t>ı</a:t>
            </a:r>
            <a:r>
              <a:rPr lang="en-US" altLang="tr-TR" dirty="0"/>
              <a:t>c</a:t>
            </a:r>
            <a:r>
              <a:rPr lang="" altLang="en-US" dirty="0"/>
              <a:t>ı</a:t>
            </a:r>
            <a:r>
              <a:rPr lang="en-US" altLang="tr-TR" dirty="0"/>
              <a:t> bilgisayar</a:t>
            </a:r>
            <a:r>
              <a:rPr lang="" altLang="en-US" dirty="0"/>
              <a:t>ı</a:t>
            </a:r>
            <a:r>
              <a:rPr lang="en-US" altLang="tr-TR" dirty="0"/>
              <a:t> yeniden ba</a:t>
            </a:r>
            <a:r>
              <a:rPr lang="" altLang="en-US" dirty="0"/>
              <a:t>ş</a:t>
            </a:r>
            <a:r>
              <a:rPr lang="en-US" altLang="tr-TR" dirty="0"/>
              <a:t>lat</a:t>
            </a:r>
            <a:r>
              <a:rPr lang="" altLang="en-US" dirty="0"/>
              <a:t>ı</a:t>
            </a:r>
            <a:r>
              <a:rPr lang="en-US" altLang="tr-TR" dirty="0"/>
              <a:t>r).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tr-TR" dirty="0"/>
              <a:t>Detection &amp; Recovery (Tespit ve Kurtarma): Sistem kilitlenmeyi izler,</a:t>
            </a:r>
            <a:r>
              <a:rPr lang="tr-TR" altLang="en-US" dirty="0"/>
              <a:t> eğer kilitlenme</a:t>
            </a:r>
            <a:r>
              <a:rPr lang="en-US" altLang="tr-TR" dirty="0"/>
              <a:t> olu</a:t>
            </a:r>
            <a:r>
              <a:rPr lang="" altLang="en-US" dirty="0"/>
              <a:t>ş</a:t>
            </a:r>
            <a:r>
              <a:rPr lang="en-US" altLang="tr-TR" dirty="0"/>
              <a:t>ursa </a:t>
            </a:r>
            <a:r>
              <a:rPr lang="tr-TR" altLang="en-US" dirty="0"/>
              <a:t>ilgili</a:t>
            </a:r>
            <a:r>
              <a:rPr lang="en-US" altLang="tr-TR" dirty="0"/>
              <a:t> i</a:t>
            </a:r>
            <a:r>
              <a:rPr lang="" altLang="en-US" dirty="0"/>
              <a:t>ş</a:t>
            </a:r>
            <a:r>
              <a:rPr lang="en-US" altLang="tr-TR" dirty="0"/>
              <a:t>lemi sonland</a:t>
            </a:r>
            <a:r>
              <a:rPr lang="" altLang="en-US" dirty="0"/>
              <a:t>ı</a:t>
            </a:r>
            <a:r>
              <a:rPr lang="en-US" altLang="tr-TR" dirty="0"/>
              <a:t>r</a:t>
            </a:r>
            <a:r>
              <a:rPr lang="" altLang="en-US" dirty="0"/>
              <a:t>ı</a:t>
            </a:r>
            <a:r>
              <a:rPr lang="en-US" altLang="tr-TR" dirty="0"/>
              <a:t>r (Kill).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tr-TR" dirty="0"/>
              <a:t>Prevention (</a:t>
            </a:r>
            <a:r>
              <a:rPr lang="en-US" altLang="en-US" dirty="0"/>
              <a:t>Ö</a:t>
            </a:r>
            <a:r>
              <a:rPr lang="en-US" altLang="tr-TR" dirty="0"/>
              <a:t>nleme): Coffman </a:t>
            </a:r>
            <a:r>
              <a:rPr lang="" altLang="en-US" dirty="0"/>
              <a:t>ş</a:t>
            </a:r>
            <a:r>
              <a:rPr lang="en-US" altLang="tr-TR" dirty="0"/>
              <a:t>artlar</a:t>
            </a:r>
            <a:r>
              <a:rPr lang="" altLang="en-US" dirty="0"/>
              <a:t>ı</a:t>
            </a:r>
            <a:r>
              <a:rPr lang="en-US" altLang="tr-TR" dirty="0"/>
              <a:t>ndan (4 </a:t>
            </a:r>
            <a:r>
              <a:rPr lang="" altLang="en-US" dirty="0"/>
              <a:t>ş</a:t>
            </a:r>
            <a:r>
              <a:rPr lang="en-US" altLang="tr-TR" dirty="0"/>
              <a:t>art) en az birini bozarak kilitlenmeyi imkans</a:t>
            </a:r>
            <a:r>
              <a:rPr lang="" altLang="en-US" dirty="0"/>
              <a:t>ı</a:t>
            </a:r>
            <a:r>
              <a:rPr lang="en-US" altLang="tr-TR" dirty="0"/>
              <a:t>z k</a:t>
            </a:r>
            <a:r>
              <a:rPr lang="" altLang="en-US" dirty="0"/>
              <a:t>ı</a:t>
            </a:r>
            <a:r>
              <a:rPr lang="en-US" altLang="tr-TR" dirty="0"/>
              <a:t>lmak.</a:t>
            </a:r>
            <a:endParaRPr lang="en-US" altLang="tr-TR" dirty="0"/>
          </a:p>
          <a:p>
            <a:pPr marL="624205" indent="-514350">
              <a:buAutoNum type="arabicPeriod"/>
            </a:pPr>
            <a:r>
              <a:rPr lang="en-US" altLang="tr-TR" dirty="0"/>
              <a:t>Avoidance (Ka</a:t>
            </a:r>
            <a:r>
              <a:rPr lang="" altLang="en-US" dirty="0"/>
              <a:t>çı</a:t>
            </a:r>
            <a:r>
              <a:rPr lang="en-US" altLang="tr-TR" dirty="0"/>
              <a:t>nma): Kaynak da</a:t>
            </a:r>
            <a:r>
              <a:rPr lang="" altLang="en-US" dirty="0"/>
              <a:t>ğı</a:t>
            </a:r>
            <a:r>
              <a:rPr lang="en-US" altLang="tr-TR" dirty="0"/>
              <a:t>tmadan </a:t>
            </a:r>
            <a:r>
              <a:rPr lang="en-US" altLang="en-US" dirty="0"/>
              <a:t>ö</a:t>
            </a:r>
            <a:r>
              <a:rPr lang="en-US" altLang="tr-TR" dirty="0"/>
              <a:t>nce "G</a:t>
            </a:r>
            <a:r>
              <a:rPr lang="en-US" altLang="en-US" dirty="0"/>
              <a:t>ü</a:t>
            </a:r>
            <a:r>
              <a:rPr lang="en-US" altLang="tr-TR" dirty="0"/>
              <a:t>venli mi?" diye hesap yapmak (Banker's Algorithm</a:t>
            </a:r>
            <a:r>
              <a:rPr lang="tr-TR" altLang="en-US" dirty="0"/>
              <a:t> gibi</a:t>
            </a:r>
            <a:r>
              <a:rPr lang="en-US" altLang="tr-TR" dirty="0"/>
              <a:t>).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Banker's Algorithm (Banker Algoritmas</a:t>
            </a:r>
            <a:r>
              <a:rPr lang="" altLang="en-US" dirty="0"/>
              <a:t>ı</a:t>
            </a:r>
            <a:r>
              <a:rPr lang="en-US" altLang="tr-TR" dirty="0"/>
              <a:t>)</a:t>
            </a:r>
            <a:endParaRPr lang="en-US" alt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tr-TR" dirty="0"/>
              <a:t>Bir i</a:t>
            </a:r>
            <a:r>
              <a:rPr lang="" altLang="en-US" dirty="0"/>
              <a:t>ş</a:t>
            </a:r>
            <a:r>
              <a:rPr lang="en-US" altLang="tr-TR" dirty="0"/>
              <a:t>lem kaynak istedi</a:t>
            </a:r>
            <a:r>
              <a:rPr lang="" altLang="en-US" dirty="0"/>
              <a:t>ğ</a:t>
            </a:r>
            <a:r>
              <a:rPr lang="en-US" altLang="tr-TR" dirty="0"/>
              <a:t>inde, sistem "E</a:t>
            </a:r>
            <a:r>
              <a:rPr lang="" altLang="en-US" dirty="0"/>
              <a:t>ğ</a:t>
            </a:r>
            <a:r>
              <a:rPr lang="en-US" altLang="tr-TR" dirty="0"/>
              <a:t>er bu kayna</a:t>
            </a:r>
            <a:r>
              <a:rPr lang="" altLang="en-US" dirty="0"/>
              <a:t>ğı</a:t>
            </a:r>
            <a:r>
              <a:rPr lang="en-US" altLang="tr-TR" dirty="0"/>
              <a:t> verirsem, gelecekte kilitlenme riski olu</a:t>
            </a:r>
            <a:r>
              <a:rPr lang="" altLang="en-US" dirty="0"/>
              <a:t>ş</a:t>
            </a:r>
            <a:r>
              <a:rPr lang="en-US" altLang="tr-TR" dirty="0"/>
              <a:t>ur mu?" diye sim</a:t>
            </a:r>
            <a:r>
              <a:rPr lang="en-US" altLang="en-US" dirty="0"/>
              <a:t>ü</a:t>
            </a:r>
            <a:r>
              <a:rPr lang="en-US" altLang="tr-TR" dirty="0"/>
              <a:t>lasyon yapar.</a:t>
            </a:r>
            <a:endParaRPr lang="en-US" altLang="tr-TR" dirty="0"/>
          </a:p>
          <a:p>
            <a:r>
              <a:rPr lang="en-US" altLang="tr-TR" dirty="0"/>
              <a:t>G</a:t>
            </a:r>
            <a:r>
              <a:rPr lang="en-US" altLang="en-US" dirty="0"/>
              <a:t>ü</a:t>
            </a:r>
            <a:r>
              <a:rPr lang="en-US" altLang="tr-TR" dirty="0"/>
              <a:t>venli Durum (Safe State): Herkese yetecek kadar kaynak veya geri d</a:t>
            </a:r>
            <a:r>
              <a:rPr lang="en-US" altLang="en-US" dirty="0"/>
              <a:t>ö</a:t>
            </a:r>
            <a:r>
              <a:rPr lang="en-US" altLang="tr-TR" dirty="0"/>
              <a:t>n</a:t>
            </a:r>
            <a:r>
              <a:rPr lang="en-US" altLang="en-US" dirty="0"/>
              <a:t>ü</a:t>
            </a:r>
            <a:r>
              <a:rPr lang="" altLang="en-US" dirty="0"/>
              <a:t>ş</a:t>
            </a:r>
            <a:r>
              <a:rPr lang="en-US" altLang="tr-TR" dirty="0"/>
              <a:t> plan</a:t>
            </a:r>
            <a:r>
              <a:rPr lang="" altLang="en-US" dirty="0"/>
              <a:t>ı</a:t>
            </a:r>
            <a:r>
              <a:rPr lang="en-US" altLang="tr-TR" dirty="0"/>
              <a:t> var.</a:t>
            </a:r>
            <a:endParaRPr lang="en-US" altLang="tr-TR" dirty="0"/>
          </a:p>
          <a:p>
            <a:r>
              <a:rPr lang="en-US" altLang="tr-TR" dirty="0"/>
              <a:t>G</a:t>
            </a:r>
            <a:r>
              <a:rPr lang="en-US" altLang="en-US" dirty="0"/>
              <a:t>ü</a:t>
            </a:r>
            <a:r>
              <a:rPr lang="en-US" altLang="tr-TR" dirty="0"/>
              <a:t>vensiz Durum (Unsafe State): Riskli, kaynak verilmez ve i</a:t>
            </a:r>
            <a:r>
              <a:rPr lang="" altLang="en-US" dirty="0"/>
              <a:t>ş</a:t>
            </a:r>
            <a:r>
              <a:rPr lang="en-US" altLang="tr-TR" dirty="0"/>
              <a:t>lem bekletilir.</a:t>
            </a:r>
            <a:endParaRPr lang="en-US" altLang="tr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Livelock(Yaşayan Kilitlenme)</a:t>
            </a:r>
            <a:endParaRPr 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/>
          <a:p>
            <a:r>
              <a:rPr lang="" altLang="en-US"/>
              <a:t>İş</a:t>
            </a:r>
            <a:r>
              <a:rPr lang="en-US" altLang="tr-TR"/>
              <a:t>lemlerin kilitlenmedi</a:t>
            </a:r>
            <a:r>
              <a:rPr lang="" altLang="en-US"/>
              <a:t>ğ</a:t>
            </a:r>
            <a:r>
              <a:rPr lang="en-US" altLang="tr-TR"/>
              <a:t>i ama s</a:t>
            </a:r>
            <a:r>
              <a:rPr lang="en-US" altLang="en-US"/>
              <a:t>ü</a:t>
            </a:r>
            <a:r>
              <a:rPr lang="en-US" altLang="tr-TR"/>
              <a:t>rekli birbirlerinin durumuna tepki vererek durum de</a:t>
            </a:r>
            <a:r>
              <a:rPr lang="" altLang="en-US"/>
              <a:t>ğ</a:t>
            </a:r>
            <a:r>
              <a:rPr lang="en-US" altLang="tr-TR"/>
              <a:t>i</a:t>
            </a:r>
            <a:r>
              <a:rPr lang="" altLang="en-US"/>
              <a:t>ş</a:t>
            </a:r>
            <a:r>
              <a:rPr lang="en-US" altLang="tr-TR"/>
              <a:t>tirdi</a:t>
            </a:r>
            <a:r>
              <a:rPr lang="" altLang="en-US"/>
              <a:t>ğ</a:t>
            </a:r>
            <a:r>
              <a:rPr lang="en-US" altLang="tr-TR"/>
              <a:t>i senaryodur.</a:t>
            </a:r>
            <a:endParaRPr lang="en-US" altLang="tr-TR"/>
          </a:p>
          <a:p>
            <a:r>
              <a:rPr lang="" altLang="en-US"/>
              <a:t>İş</a:t>
            </a:r>
            <a:r>
              <a:rPr lang="en-US" altLang="tr-TR"/>
              <a:t>lemler </a:t>
            </a:r>
            <a:r>
              <a:rPr lang="" altLang="en-US"/>
              <a:t>ç</a:t>
            </a:r>
            <a:r>
              <a:rPr lang="en-US" altLang="tr-TR"/>
              <a:t>al</a:t>
            </a:r>
            <a:r>
              <a:rPr lang="" altLang="en-US"/>
              <a:t>ışı</a:t>
            </a:r>
            <a:r>
              <a:rPr lang="en-US" altLang="tr-TR"/>
              <a:t>r (running) vaziyettedir, aktiftir.</a:t>
            </a:r>
            <a:endParaRPr lang="en-US" altLang="tr-TR"/>
          </a:p>
        </p:txBody>
      </p:sp>
      <p:pic>
        <p:nvPicPr>
          <p:cNvPr id="4" name="Resim 3" descr="1_cle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5705" y="3999230"/>
            <a:ext cx="4721225" cy="2575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Livelock(Yaşayan Kilitlenme)</a:t>
            </a:r>
            <a:endParaRPr 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/>
          <a:p>
            <a:r>
              <a:rPr lang="en-US" altLang="tr-TR"/>
              <a:t>CPU Kullan</a:t>
            </a:r>
            <a:r>
              <a:rPr lang="en-US" altLang="en-US"/>
              <a:t>ı</a:t>
            </a:r>
            <a:r>
              <a:rPr lang="en-US" altLang="tr-TR"/>
              <a:t>m</a:t>
            </a:r>
            <a:r>
              <a:rPr lang="en-US" altLang="en-US"/>
              <a:t>ı</a:t>
            </a:r>
            <a:r>
              <a:rPr lang="tr-TR"/>
              <a:t> </a:t>
            </a:r>
            <a:r>
              <a:rPr lang="en-US" altLang="tr-TR"/>
              <a:t>%100 (veya y</a:t>
            </a:r>
            <a:r>
              <a:rPr lang="en-US" altLang="en-US"/>
              <a:t>ü</a:t>
            </a:r>
            <a:r>
              <a:rPr lang="en-US" altLang="tr-TR"/>
              <a:t>ksektir</a:t>
            </a:r>
            <a:r>
              <a:rPr lang="tr-TR" altLang="en-US"/>
              <a:t>, Eğer Process kullanılıyorsa!</a:t>
            </a:r>
            <a:r>
              <a:rPr lang="en-US" altLang="tr-TR"/>
              <a:t>). S</a:t>
            </a:r>
            <a:r>
              <a:rPr lang="en-US" altLang="en-US"/>
              <a:t>ü</a:t>
            </a:r>
            <a:r>
              <a:rPr lang="en-US" altLang="tr-TR"/>
              <a:t>rekli bir </a:t>
            </a:r>
            <a:r>
              <a:rPr lang="en-US" altLang="en-US"/>
              <a:t>ş</a:t>
            </a:r>
            <a:r>
              <a:rPr lang="en-US" altLang="tr-TR"/>
              <a:t>eyler yapmaya </a:t>
            </a:r>
            <a:r>
              <a:rPr lang="en-US" altLang="en-US"/>
              <a:t>ç</a:t>
            </a:r>
            <a:r>
              <a:rPr lang="en-US" altLang="tr-TR"/>
              <a:t>al</a:t>
            </a:r>
            <a:r>
              <a:rPr lang="en-US" altLang="en-US"/>
              <a:t>ışı</a:t>
            </a:r>
            <a:r>
              <a:rPr lang="en-US" altLang="tr-TR"/>
              <a:t>rlar.</a:t>
            </a:r>
            <a:endParaRPr lang="en-US" altLang="tr-TR"/>
          </a:p>
          <a:p>
            <a:r>
              <a:rPr lang="en-US" altLang="tr-TR"/>
              <a:t>Deadlock'ta herkes durur; Livelock'ta herkes </a:t>
            </a:r>
            <a:r>
              <a:rPr lang="en-US" altLang="en-US"/>
              <a:t>ç</a:t>
            </a:r>
            <a:r>
              <a:rPr lang="en-US" altLang="tr-TR"/>
              <a:t>al</a:t>
            </a:r>
            <a:r>
              <a:rPr lang="en-US" altLang="en-US"/>
              <a:t>ışı</a:t>
            </a:r>
            <a:r>
              <a:rPr lang="en-US" altLang="tr-TR"/>
              <a:t>r ama sonu</a:t>
            </a:r>
            <a:r>
              <a:rPr lang="en-US" altLang="en-US"/>
              <a:t>ç</a:t>
            </a:r>
            <a:r>
              <a:rPr lang="en-US" altLang="tr-TR"/>
              <a:t> s</a:t>
            </a:r>
            <a:r>
              <a:rPr lang="en-US" altLang="en-US"/>
              <a:t>ı</a:t>
            </a:r>
            <a:r>
              <a:rPr lang="en-US" altLang="tr-TR"/>
              <a:t>f</a:t>
            </a:r>
            <a:r>
              <a:rPr lang="en-US" altLang="en-US"/>
              <a:t>ı</a:t>
            </a:r>
            <a:r>
              <a:rPr lang="en-US" altLang="tr-TR"/>
              <a:t>rd</a:t>
            </a:r>
            <a:r>
              <a:rPr lang="en-US" altLang="en-US"/>
              <a:t>ı</a:t>
            </a:r>
            <a:r>
              <a:rPr lang="en-US" altLang="tr-TR"/>
              <a:t>r.</a:t>
            </a:r>
            <a:endParaRPr lang="en-US" altLang="tr-TR"/>
          </a:p>
        </p:txBody>
      </p:sp>
      <p:pic>
        <p:nvPicPr>
          <p:cNvPr id="6" name="Resim 5" descr="8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3170" y="3670300"/>
            <a:ext cx="4645025" cy="2613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Livelock(Yaşayan Kilitlenme)</a:t>
            </a:r>
            <a:endParaRPr 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>
            <a:normAutofit fontScale="25000"/>
          </a:bodyPr>
          <a:p>
            <a:pPr marL="109855" indent="0">
              <a:buNone/>
            </a:pPr>
            <a:r>
              <a:rPr lang="en-US" altLang="tr-TR"/>
              <a:t>import threading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import time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bariyer_basla = threading.Barrier(2)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bariyer_sonuc = threading.Barrier(2)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bariyer_reset = threading.Barrier(2)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kilit1 = threading.Lock()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kilit2 = threading.Lock()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def agir_cekim_robot(kendi_kilidi, diger_kilit, isim):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tur_sayisi = 1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while True: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print(f"\n--- {isim} (Tur: {tur_sayisi}) ---")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kendi_kilidi.acquire()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print(f"{isim}: Kendi kilidini ald</a:t>
            </a:r>
            <a:r>
              <a:rPr lang="" altLang="en-US"/>
              <a:t>ı</a:t>
            </a:r>
            <a:r>
              <a:rPr lang="en-US" altLang="tr-TR"/>
              <a:t>. Di</a:t>
            </a:r>
            <a:r>
              <a:rPr lang="" altLang="en-US"/>
              <a:t>ğ</a:t>
            </a:r>
            <a:r>
              <a:rPr lang="en-US" altLang="tr-TR"/>
              <a:t>erini bekliyor...")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time.sleep(0.5) 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bariyer_basla.wait()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print(f"{isim}: Di</a:t>
            </a:r>
            <a:r>
              <a:rPr lang="" altLang="en-US"/>
              <a:t>ğ</a:t>
            </a:r>
            <a:r>
              <a:rPr lang="en-US" altLang="tr-TR"/>
              <a:t>er kilide hamle yap</a:t>
            </a:r>
            <a:r>
              <a:rPr lang="" altLang="en-US"/>
              <a:t>ı</a:t>
            </a:r>
            <a:r>
              <a:rPr lang="en-US" altLang="tr-TR"/>
              <a:t>yor!")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basari = diger_kilit.acquire(blocking=False)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bariyer_sonuc.wait()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if basari: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print(f"!!! {isim} BA</a:t>
            </a:r>
            <a:r>
              <a:rPr lang="" altLang="en-US"/>
              <a:t>Ş</a:t>
            </a:r>
            <a:r>
              <a:rPr lang="en-US" altLang="tr-TR"/>
              <a:t>ARDI !!!")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diger_kilit.release()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kendi_kilidi.release()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break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else: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print(f"{isim}: </a:t>
            </a:r>
            <a:r>
              <a:rPr lang="" altLang="en-US"/>
              <a:t>Ç</a:t>
            </a:r>
            <a:r>
              <a:rPr lang="en-US" altLang="tr-TR"/>
              <a:t>AKI</a:t>
            </a:r>
            <a:r>
              <a:rPr lang="" altLang="en-US"/>
              <a:t>Ş</a:t>
            </a:r>
            <a:r>
              <a:rPr lang="en-US" altLang="tr-TR"/>
              <a:t>TI! Kilidi alamad</a:t>
            </a:r>
            <a:r>
              <a:rPr lang="" altLang="en-US"/>
              <a:t>ı</a:t>
            </a:r>
            <a:r>
              <a:rPr lang="en-US" altLang="tr-TR"/>
              <a:t>.")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time.sleep(0.5) # Okumak i</a:t>
            </a:r>
            <a:r>
              <a:rPr lang="" altLang="en-US"/>
              <a:t>ç</a:t>
            </a:r>
            <a:r>
              <a:rPr lang="en-US" altLang="tr-TR"/>
              <a:t>in bekleme    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print(f"{isim}: Mecburen elindekini b</a:t>
            </a:r>
            <a:r>
              <a:rPr lang="" altLang="en-US"/>
              <a:t>ı</a:t>
            </a:r>
            <a:r>
              <a:rPr lang="en-US" altLang="tr-TR"/>
              <a:t>rak</a:t>
            </a:r>
            <a:r>
              <a:rPr lang="" altLang="en-US"/>
              <a:t>ı</a:t>
            </a:r>
            <a:r>
              <a:rPr lang="en-US" altLang="tr-TR"/>
              <a:t>yor...")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kendi_kilidi.release()    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bariyer_reset.wait()    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time.sleep(1)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tur_sayisi += 1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t1 = threading.Thread(target=agir_cekim_robot, args=(kilit1, kilit2, "Robot-A"))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t2 = threading.Thread(target=agir_cekim_robot, args=(kilit2, kilit1, "Robot-B"))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time.sleep(1)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t1.start()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t2.start()</a:t>
            </a:r>
            <a:endParaRPr lang="en-US" altLang="tr-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Starvation (A</a:t>
            </a:r>
            <a:r>
              <a:rPr lang="" altLang="en-US" dirty="0"/>
              <a:t>ç</a:t>
            </a:r>
            <a:r>
              <a:rPr lang="en-US" altLang="tr-TR" dirty="0"/>
              <a:t>l</a:t>
            </a:r>
            <a:r>
              <a:rPr lang="" altLang="en-US" dirty="0"/>
              <a:t>ı</a:t>
            </a:r>
            <a:r>
              <a:rPr lang="en-US" altLang="tr-TR" dirty="0"/>
              <a:t>k/K</a:t>
            </a:r>
            <a:r>
              <a:rPr lang="" altLang="en-US" dirty="0"/>
              <a:t>ı</a:t>
            </a:r>
            <a:r>
              <a:rPr lang="en-US" altLang="tr-TR" dirty="0"/>
              <a:t>tl</a:t>
            </a:r>
            <a:r>
              <a:rPr lang="" altLang="en-US" dirty="0"/>
              <a:t>ı</a:t>
            </a:r>
            <a:r>
              <a:rPr lang="en-US" altLang="tr-TR" dirty="0"/>
              <a:t>k)</a:t>
            </a:r>
            <a:endParaRPr lang="en-US" alt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/>
          <a:p>
            <a:r>
              <a:rPr lang="en-US" altLang="tr-TR"/>
              <a:t>Bir i</a:t>
            </a:r>
            <a:r>
              <a:rPr lang="" altLang="en-US"/>
              <a:t>ş</a:t>
            </a:r>
            <a:r>
              <a:rPr lang="en-US" altLang="tr-TR"/>
              <a:t>lemin, kaynaklar</a:t>
            </a:r>
            <a:r>
              <a:rPr lang="" altLang="en-US"/>
              <a:t>ı</a:t>
            </a:r>
            <a:r>
              <a:rPr lang="en-US" altLang="tr-TR"/>
              <a:t>n s</a:t>
            </a:r>
            <a:r>
              <a:rPr lang="en-US" altLang="en-US"/>
              <a:t>ü</a:t>
            </a:r>
            <a:r>
              <a:rPr lang="en-US" altLang="tr-TR"/>
              <a:t>rekli "y</a:t>
            </a:r>
            <a:r>
              <a:rPr lang="en-US" altLang="en-US"/>
              <a:t>ü</a:t>
            </a:r>
            <a:r>
              <a:rPr lang="en-US" altLang="tr-TR"/>
              <a:t>ksek </a:t>
            </a:r>
            <a:r>
              <a:rPr lang="en-US" altLang="en-US"/>
              <a:t>ö</a:t>
            </a:r>
            <a:r>
              <a:rPr lang="en-US" altLang="tr-TR"/>
              <a:t>ncelikli" (high priority) i</a:t>
            </a:r>
            <a:r>
              <a:rPr lang="" altLang="en-US"/>
              <a:t>ş</a:t>
            </a:r>
            <a:r>
              <a:rPr lang="en-US" altLang="tr-TR"/>
              <a:t>lemlere verilmesi sebebiyle, </a:t>
            </a:r>
            <a:r>
              <a:rPr lang="" altLang="en-US"/>
              <a:t>ç</a:t>
            </a:r>
            <a:r>
              <a:rPr lang="en-US" altLang="tr-TR"/>
              <a:t>al</a:t>
            </a:r>
            <a:r>
              <a:rPr lang="" altLang="en-US"/>
              <a:t>ış</a:t>
            </a:r>
            <a:r>
              <a:rPr lang="en-US" altLang="tr-TR"/>
              <a:t>mak i</a:t>
            </a:r>
            <a:r>
              <a:rPr lang="" altLang="en-US"/>
              <a:t>ç</a:t>
            </a:r>
            <a:r>
              <a:rPr lang="en-US" altLang="tr-TR"/>
              <a:t>in bir t</a:t>
            </a:r>
            <a:r>
              <a:rPr lang="en-US" altLang="en-US"/>
              <a:t>ü</a:t>
            </a:r>
            <a:r>
              <a:rPr lang="en-US" altLang="tr-TR"/>
              <a:t>rl</a:t>
            </a:r>
            <a:r>
              <a:rPr lang="en-US" altLang="en-US"/>
              <a:t>ü</a:t>
            </a:r>
            <a:r>
              <a:rPr lang="en-US" altLang="tr-TR"/>
              <a:t> s</a:t>
            </a:r>
            <a:r>
              <a:rPr lang="" altLang="en-US"/>
              <a:t>ı</a:t>
            </a:r>
            <a:r>
              <a:rPr lang="en-US" altLang="tr-TR"/>
              <a:t>ras</a:t>
            </a:r>
            <a:r>
              <a:rPr lang="" altLang="en-US"/>
              <a:t>ı</a:t>
            </a:r>
            <a:r>
              <a:rPr lang="en-US" altLang="tr-TR"/>
              <a:t>n</a:t>
            </a:r>
            <a:r>
              <a:rPr lang="" altLang="en-US"/>
              <a:t>ı</a:t>
            </a:r>
            <a:r>
              <a:rPr lang="en-US" altLang="tr-TR"/>
              <a:t>n gelmemesi durumudur.</a:t>
            </a:r>
            <a:endParaRPr lang="en-US" altLang="tr-TR"/>
          </a:p>
          <a:p>
            <a:r>
              <a:rPr lang="" altLang="en-US"/>
              <a:t>İş</a:t>
            </a:r>
            <a:r>
              <a:rPr lang="en-US" altLang="tr-TR"/>
              <a:t>lem haz</a:t>
            </a:r>
            <a:r>
              <a:rPr lang="" altLang="en-US"/>
              <a:t>ı</a:t>
            </a:r>
            <a:r>
              <a:rPr lang="en-US" altLang="tr-TR"/>
              <a:t>rd</a:t>
            </a:r>
            <a:r>
              <a:rPr lang="" altLang="en-US"/>
              <a:t>ı</a:t>
            </a:r>
            <a:r>
              <a:rPr lang="en-US" altLang="tr-TR"/>
              <a:t>r (ready) ama bekletilir.</a:t>
            </a:r>
            <a:endParaRPr lang="en-US" altLang="tr-TR"/>
          </a:p>
        </p:txBody>
      </p:sp>
      <p:pic>
        <p:nvPicPr>
          <p:cNvPr id="4" name="Resim 3" descr="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8445" y="4362450"/>
            <a:ext cx="4055745" cy="22123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Starvation (A</a:t>
            </a:r>
            <a:r>
              <a:rPr lang="en-US" altLang="en-US" dirty="0"/>
              <a:t>ç</a:t>
            </a:r>
            <a:r>
              <a:rPr lang="en-US" altLang="tr-TR" dirty="0"/>
              <a:t>l</a:t>
            </a:r>
            <a:r>
              <a:rPr lang="en-US" altLang="en-US" dirty="0"/>
              <a:t>ı</a:t>
            </a:r>
            <a:r>
              <a:rPr lang="en-US" altLang="tr-TR" dirty="0"/>
              <a:t>k/K</a:t>
            </a:r>
            <a:r>
              <a:rPr lang="en-US" altLang="en-US" dirty="0"/>
              <a:t>ı</a:t>
            </a:r>
            <a:r>
              <a:rPr lang="en-US" altLang="tr-TR" dirty="0"/>
              <a:t>tl</a:t>
            </a:r>
            <a:r>
              <a:rPr lang="en-US" altLang="en-US" dirty="0"/>
              <a:t>ı</a:t>
            </a:r>
            <a:r>
              <a:rPr lang="en-US" altLang="tr-TR" dirty="0"/>
              <a:t>k)</a:t>
            </a:r>
            <a:endParaRPr lang="en-US" alt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/>
          <a:p>
            <a:r>
              <a:rPr lang="en-US" altLang="tr-TR"/>
              <a:t>Adaletsiz Planlama (Unfair Scheduling)</a:t>
            </a:r>
            <a:r>
              <a:rPr lang="tr-TR" altLang="en-US"/>
              <a:t> sebebiyle oluşur.</a:t>
            </a:r>
            <a:endParaRPr lang="tr-TR" altLang="en-US"/>
          </a:p>
          <a:p>
            <a:r>
              <a:rPr lang="en-US" altLang="tr-TR"/>
              <a:t>Aging (Ya</a:t>
            </a:r>
            <a:r>
              <a:rPr lang="en-US" altLang="en-US"/>
              <a:t>ş</a:t>
            </a:r>
            <a:r>
              <a:rPr lang="en-US" altLang="tr-TR"/>
              <a:t>land</a:t>
            </a:r>
            <a:r>
              <a:rPr lang="en-US" altLang="en-US"/>
              <a:t>ı</a:t>
            </a:r>
            <a:r>
              <a:rPr lang="en-US" altLang="tr-TR"/>
              <a:t>rma) tekni</a:t>
            </a:r>
            <a:r>
              <a:rPr lang="en-US" altLang="en-US"/>
              <a:t>ğ</a:t>
            </a:r>
            <a:r>
              <a:rPr lang="en-US" altLang="tr-TR"/>
              <a:t>i</a:t>
            </a:r>
            <a:r>
              <a:rPr lang="tr-TR" altLang="en-US"/>
              <a:t> ile daha çok</a:t>
            </a:r>
            <a:r>
              <a:rPr lang="en-US" altLang="tr-TR"/>
              <a:t> </a:t>
            </a:r>
            <a:r>
              <a:rPr lang="tr-TR" altLang="en-US"/>
              <a:t>b</a:t>
            </a:r>
            <a:r>
              <a:rPr lang="en-US" altLang="tr-TR"/>
              <a:t>ekleyen i</a:t>
            </a:r>
            <a:r>
              <a:rPr lang="en-US" altLang="en-US"/>
              <a:t>ş</a:t>
            </a:r>
            <a:r>
              <a:rPr lang="en-US" altLang="tr-TR"/>
              <a:t>lemin </a:t>
            </a:r>
            <a:r>
              <a:rPr lang="en-US" altLang="en-US"/>
              <a:t>ö</a:t>
            </a:r>
            <a:r>
              <a:rPr lang="en-US" altLang="tr-TR"/>
              <a:t>nceli</a:t>
            </a:r>
            <a:r>
              <a:rPr lang="en-US" altLang="en-US"/>
              <a:t>ğ</a:t>
            </a:r>
            <a:r>
              <a:rPr lang="en-US" altLang="tr-TR"/>
              <a:t>i</a:t>
            </a:r>
            <a:r>
              <a:rPr lang="tr-TR" altLang="en-US"/>
              <a:t> artırılarak bir çözüme gidilebilir.</a:t>
            </a:r>
            <a:endParaRPr lang="en-US" altLang="tr-TR"/>
          </a:p>
        </p:txBody>
      </p:sp>
      <p:pic>
        <p:nvPicPr>
          <p:cNvPr id="6" name="Resim 5"/>
          <p:cNvPicPr/>
          <p:nvPr/>
        </p:nvPicPr>
        <p:blipFill>
          <a:blip r:embed="rId1"/>
          <a:stretch>
            <a:fillRect/>
          </a:stretch>
        </p:blipFill>
        <p:spPr>
          <a:xfrm>
            <a:off x="1811020" y="4080510"/>
            <a:ext cx="4434840" cy="2494280"/>
          </a:xfrm>
          <a:prstGeom prst="rect">
            <a:avLst/>
          </a:prstGeom>
        </p:spPr>
      </p:pic>
      <p:pic>
        <p:nvPicPr>
          <p:cNvPr id="7" name="Resim 6"/>
          <p:cNvPicPr/>
          <p:nvPr/>
        </p:nvPicPr>
        <p:blipFill>
          <a:blip r:embed="rId2"/>
          <a:stretch>
            <a:fillRect/>
          </a:stretch>
        </p:blipFill>
        <p:spPr>
          <a:xfrm>
            <a:off x="6492240" y="4080510"/>
            <a:ext cx="4175125" cy="2494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Starvation (A</a:t>
            </a:r>
            <a:r>
              <a:rPr lang="en-US" altLang="en-US" dirty="0"/>
              <a:t>ç</a:t>
            </a:r>
            <a:r>
              <a:rPr lang="en-US" altLang="tr-TR" dirty="0"/>
              <a:t>l</a:t>
            </a:r>
            <a:r>
              <a:rPr lang="en-US" altLang="en-US" dirty="0"/>
              <a:t>ı</a:t>
            </a:r>
            <a:r>
              <a:rPr lang="en-US" altLang="tr-TR" dirty="0"/>
              <a:t>k/K</a:t>
            </a:r>
            <a:r>
              <a:rPr lang="en-US" altLang="en-US" dirty="0"/>
              <a:t>ı</a:t>
            </a:r>
            <a:r>
              <a:rPr lang="en-US" altLang="tr-TR" dirty="0"/>
              <a:t>tl</a:t>
            </a:r>
            <a:r>
              <a:rPr lang="en-US" altLang="en-US" dirty="0"/>
              <a:t>ı</a:t>
            </a:r>
            <a:r>
              <a:rPr lang="en-US" altLang="tr-TR" dirty="0"/>
              <a:t>k)</a:t>
            </a:r>
            <a:endParaRPr lang="en-US" alt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>
            <a:normAutofit fontScale="25000"/>
          </a:bodyPr>
          <a:p>
            <a:pPr marL="109855" indent="0">
              <a:buNone/>
            </a:pPr>
            <a:r>
              <a:rPr lang="en-US" altLang="tr-TR"/>
              <a:t>import threading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import time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oda_kilidi = threading.Lock()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def patron_robot():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while True: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oda_kilidi.acquire()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print("PATRON: Odaya girdi, Uzun bir toplant</a:t>
            </a:r>
            <a:r>
              <a:rPr lang="" altLang="en-US"/>
              <a:t>ı</a:t>
            </a:r>
            <a:r>
              <a:rPr lang="en-US" altLang="tr-TR"/>
              <a:t> yapacak")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time.sleep(2) 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print("PATRON: </a:t>
            </a:r>
            <a:r>
              <a:rPr lang="" altLang="en-US"/>
              <a:t>İş</a:t>
            </a:r>
            <a:r>
              <a:rPr lang="en-US" altLang="tr-TR"/>
              <a:t>im bitti, </a:t>
            </a:r>
            <a:r>
              <a:rPr lang="" altLang="en-US"/>
              <a:t>çı</a:t>
            </a:r>
            <a:r>
              <a:rPr lang="en-US" altLang="tr-TR"/>
              <a:t>k</a:t>
            </a:r>
            <a:r>
              <a:rPr lang="" altLang="en-US"/>
              <a:t>ı</a:t>
            </a:r>
            <a:r>
              <a:rPr lang="en-US" altLang="tr-TR"/>
              <a:t>yorum(Ama hemen d</a:t>
            </a:r>
            <a:r>
              <a:rPr lang="en-US" altLang="en-US"/>
              <a:t>ö</a:t>
            </a:r>
            <a:r>
              <a:rPr lang="en-US" altLang="tr-TR"/>
              <a:t>nece</a:t>
            </a:r>
            <a:r>
              <a:rPr lang="" altLang="en-US"/>
              <a:t>ğ</a:t>
            </a:r>
            <a:r>
              <a:rPr lang="en-US" altLang="tr-TR"/>
              <a:t>im)")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oda_kilidi.release()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time.sleep(0.01) </a:t>
            </a:r>
            <a:endParaRPr lang="en-US" altLang="tr-TR"/>
          </a:p>
          <a:p>
            <a:pPr marL="109855" indent="0">
              <a:buNone/>
            </a:pPr>
            <a:endParaRPr lang="en-US" altLang="tr-TR"/>
          </a:p>
          <a:p>
            <a:pPr marL="109855" indent="0">
              <a:buNone/>
            </a:pPr>
            <a:r>
              <a:rPr lang="en-US" altLang="tr-TR"/>
              <a:t>def stajyer_robot():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while True: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print("STAJYER: Kap</a:t>
            </a:r>
            <a:r>
              <a:rPr lang="" altLang="en-US"/>
              <a:t>ı</a:t>
            </a:r>
            <a:r>
              <a:rPr lang="en-US" altLang="tr-TR"/>
              <a:t>y</a:t>
            </a:r>
            <a:r>
              <a:rPr lang="" altLang="en-US"/>
              <a:t>ı</a:t>
            </a:r>
            <a:r>
              <a:rPr lang="en-US" altLang="tr-TR"/>
              <a:t> kontrol ediyor...")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basari = oda_kilidi.acquire(blocking=False)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if basari: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print("STAJYER: </a:t>
            </a:r>
            <a:r>
              <a:rPr lang="" altLang="en-US"/>
              <a:t>İ</a:t>
            </a:r>
            <a:r>
              <a:rPr lang="en-US" altLang="tr-TR"/>
              <a:t>NANILMAZ! SONUNDA ODAYA G</a:t>
            </a:r>
            <a:r>
              <a:rPr lang="" altLang="en-US"/>
              <a:t>İ</a:t>
            </a:r>
            <a:r>
              <a:rPr lang="en-US" altLang="tr-TR"/>
              <a:t>RD</a:t>
            </a:r>
            <a:r>
              <a:rPr lang="" altLang="en-US"/>
              <a:t>İ</a:t>
            </a:r>
            <a:r>
              <a:rPr lang="en-US" altLang="tr-TR"/>
              <a:t>M!\n")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oda_kilidi.release()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break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else: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    print("STAJYER: Kap</a:t>
            </a:r>
            <a:r>
              <a:rPr lang="" altLang="en-US"/>
              <a:t>ı</a:t>
            </a:r>
            <a:r>
              <a:rPr lang="en-US" altLang="tr-TR"/>
              <a:t> yine duvar! Patron i</a:t>
            </a:r>
            <a:r>
              <a:rPr lang="" altLang="en-US"/>
              <a:t>ç</a:t>
            </a:r>
            <a:r>
              <a:rPr lang="en-US" altLang="tr-TR"/>
              <a:t>eride...")        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        time.sleep(0.5)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t1 = threading.Thread(target=patron_robot)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t2 = threading.Thread(target=stajyer_robot)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time.sleep(1)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t1.start()</a:t>
            </a:r>
            <a:endParaRPr lang="en-US" altLang="tr-TR"/>
          </a:p>
          <a:p>
            <a:pPr marL="109855" indent="0">
              <a:buNone/>
            </a:pPr>
            <a:r>
              <a:rPr lang="en-US" altLang="tr-TR"/>
              <a:t>t2.start()</a:t>
            </a:r>
            <a:endParaRPr lang="en-US" altLang="tr-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altLang="en-US" dirty="0"/>
              <a:t>Deadlock - Livelock - Starvation</a:t>
            </a:r>
            <a:endParaRPr lang="tr-TR" altLang="en-US" dirty="0"/>
          </a:p>
        </p:txBody>
      </p:sp>
      <p:graphicFrame>
        <p:nvGraphicFramePr>
          <p:cNvPr id="4" name="Tablo 3"/>
          <p:cNvGraphicFramePr/>
          <p:nvPr/>
        </p:nvGraphicFramePr>
        <p:xfrm>
          <a:off x="853440" y="2453640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Özellik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Deadlock (Ölümcül Kilitlenme)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Livelock (Yaşayan Kilitlenme)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Starvation (Açlık)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Durum</a:t>
                      </a:r>
                      <a:endParaRPr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Beklemede (Blocked)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Aktif / Çalışıyor (Running)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Hazır (Ready) ama bekliyor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İlerleme</a:t>
                      </a:r>
                      <a:endParaRPr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Yok (0)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Yok (0)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Bazıları ilerler, bazıları durur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CPU Kullanımı</a:t>
                      </a:r>
                      <a:endParaRPr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%0 (Düşük)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%100 (Yüksek/Boşa Dönme)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Normal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Çözüm</a:t>
                      </a:r>
                      <a:endParaRPr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Süreci sonlandırma (Kill)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Rastgele Bekleme (Random Backoff)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Öncelik Artırma (Aging)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Metafor</a:t>
                      </a:r>
                      <a:endParaRPr sz="1100" b="1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Trafik tamamen durdu.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Koridorda sürekli sağ-sol yapan iki kişi.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solidFill>
                            <a:srgbClr val="1F1F1F"/>
                          </a:solidFill>
                          <a:latin typeface="Google Sans Text"/>
                          <a:ea typeface="Google Sans Text"/>
                        </a:rPr>
                        <a:t>Sürekli geçiş üstünlüğü olan araçlar yüzünden geçemeyen yaya.</a:t>
                      </a:r>
                      <a:endParaRPr sz="1100">
                        <a:solidFill>
                          <a:srgbClr val="1F1F1F"/>
                        </a:solidFill>
                        <a:latin typeface="Google Sans Text"/>
                        <a:ea typeface="Google Sans Text"/>
                      </a:endParaRPr>
                    </a:p>
                  </a:txBody>
                  <a:tcPr marL="76517" marR="76517" marT="51117" marB="51117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Deadlock Ger</a:t>
            </a:r>
            <a:r>
              <a:rPr lang="" altLang="en-US" dirty="0"/>
              <a:t>ç</a:t>
            </a:r>
            <a:r>
              <a:rPr lang="en-US" altLang="tr-TR" dirty="0"/>
              <a:t>ekte Nerede Olur?</a:t>
            </a:r>
            <a:endParaRPr lang="en-US" alt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/>
          <a:p>
            <a:r>
              <a:rPr lang="en-US" altLang="tr-TR"/>
              <a:t>Veritaban</a:t>
            </a:r>
            <a:r>
              <a:rPr lang="" altLang="en-US"/>
              <a:t>ı</a:t>
            </a:r>
            <a:r>
              <a:rPr lang="en-US" altLang="tr-TR"/>
              <a:t> transferleri (A hesab</a:t>
            </a:r>
            <a:r>
              <a:rPr lang="" altLang="en-US"/>
              <a:t>ı</a:t>
            </a:r>
            <a:r>
              <a:rPr lang="en-US" altLang="tr-TR"/>
              <a:t>ndan B'ye, B'den A'ya).</a:t>
            </a:r>
            <a:endParaRPr lang="en-US" altLang="tr-TR"/>
          </a:p>
          <a:p>
            <a:r>
              <a:rPr lang="en-US" altLang="tr-TR"/>
              <a:t>Mars Pathfinder'</a:t>
            </a:r>
            <a:r>
              <a:rPr lang="" altLang="en-US"/>
              <a:t>ı</a:t>
            </a:r>
            <a:r>
              <a:rPr lang="en-US" altLang="tr-TR"/>
              <a:t>n kilitlenip reset atmas</a:t>
            </a:r>
            <a:r>
              <a:rPr lang="" altLang="en-US"/>
              <a:t>ı</a:t>
            </a:r>
            <a:r>
              <a:rPr lang="en-US" altLang="tr-TR"/>
              <a:t>.</a:t>
            </a:r>
            <a:endParaRPr lang="en-US" altLang="tr-TR"/>
          </a:p>
        </p:txBody>
      </p:sp>
      <p:pic>
        <p:nvPicPr>
          <p:cNvPr id="4" name="Resim 3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429635"/>
            <a:ext cx="4265295" cy="2400935"/>
          </a:xfrm>
          <a:prstGeom prst="rect">
            <a:avLst/>
          </a:prstGeom>
        </p:spPr>
      </p:pic>
      <p:pic>
        <p:nvPicPr>
          <p:cNvPr id="5" name="Resim 4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0" y="3429635"/>
            <a:ext cx="3599180" cy="240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Livelock Ger</a:t>
            </a:r>
            <a:r>
              <a:rPr lang="" altLang="en-US" dirty="0"/>
              <a:t>ç</a:t>
            </a:r>
            <a:r>
              <a:rPr lang="en-US" altLang="tr-TR" dirty="0"/>
              <a:t>ekte Nerede Olur?</a:t>
            </a:r>
            <a:endParaRPr lang="en-US" alt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/>
          <a:p>
            <a:r>
              <a:rPr lang="en-US" altLang="tr-TR"/>
              <a:t>A</a:t>
            </a:r>
            <a:r>
              <a:rPr lang="" altLang="en-US"/>
              <a:t>ğ</a:t>
            </a:r>
            <a:r>
              <a:rPr lang="en-US" altLang="tr-TR"/>
              <a:t> paketlerinin </a:t>
            </a:r>
            <a:r>
              <a:rPr lang="" altLang="en-US"/>
              <a:t>ç</a:t>
            </a:r>
            <a:r>
              <a:rPr lang="en-US" altLang="tr-TR"/>
              <a:t>arp</a:t>
            </a:r>
            <a:r>
              <a:rPr lang="" altLang="en-US"/>
              <a:t>ış</a:t>
            </a:r>
            <a:r>
              <a:rPr lang="en-US" altLang="tr-TR"/>
              <a:t>mas</a:t>
            </a:r>
            <a:r>
              <a:rPr lang="" altLang="en-US"/>
              <a:t>ı</a:t>
            </a:r>
            <a:r>
              <a:rPr lang="en-US" altLang="tr-TR"/>
              <a:t> (Wi-Fi/Ethernet).</a:t>
            </a:r>
            <a:endParaRPr lang="en-US" altLang="tr-TR"/>
          </a:p>
          <a:p>
            <a:r>
              <a:rPr lang="en-US" altLang="tr-TR"/>
              <a:t>Bir servis </a:t>
            </a:r>
            <a:r>
              <a:rPr lang="" altLang="en-US"/>
              <a:t>ç</a:t>
            </a:r>
            <a:r>
              <a:rPr lang="en-US" altLang="en-US"/>
              <a:t>ö</a:t>
            </a:r>
            <a:r>
              <a:rPr lang="en-US" altLang="tr-TR"/>
              <a:t>kt</a:t>
            </a:r>
            <a:r>
              <a:rPr lang="en-US" altLang="en-US"/>
              <a:t>ü</a:t>
            </a:r>
            <a:r>
              <a:rPr lang="" altLang="en-US"/>
              <a:t>ğ</a:t>
            </a:r>
            <a:r>
              <a:rPr lang="en-US" altLang="en-US"/>
              <a:t>ü</a:t>
            </a:r>
            <a:r>
              <a:rPr lang="en-US" altLang="tr-TR"/>
              <a:t>nde herkesin ayn</a:t>
            </a:r>
            <a:r>
              <a:rPr lang="" altLang="en-US"/>
              <a:t>ı</a:t>
            </a:r>
            <a:r>
              <a:rPr lang="en-US" altLang="tr-TR"/>
              <a:t> anda ba</a:t>
            </a:r>
            <a:r>
              <a:rPr lang="" altLang="en-US"/>
              <a:t>ğ</a:t>
            </a:r>
            <a:r>
              <a:rPr lang="en-US" altLang="tr-TR"/>
              <a:t>lanmaya </a:t>
            </a:r>
            <a:r>
              <a:rPr lang="" altLang="en-US"/>
              <a:t>ç</a:t>
            </a:r>
            <a:r>
              <a:rPr lang="en-US" altLang="tr-TR"/>
              <a:t>al</a:t>
            </a:r>
            <a:r>
              <a:rPr lang="" altLang="en-US"/>
              <a:t>ışı</a:t>
            </a:r>
            <a:r>
              <a:rPr lang="en-US" altLang="tr-TR"/>
              <a:t>p sistemi s</a:t>
            </a:r>
            <a:r>
              <a:rPr lang="en-US" altLang="en-US"/>
              <a:t>ü</a:t>
            </a:r>
            <a:r>
              <a:rPr lang="en-US" altLang="tr-TR"/>
              <a:t>rekli </a:t>
            </a:r>
            <a:r>
              <a:rPr lang="" altLang="en-US"/>
              <a:t>ç</a:t>
            </a:r>
            <a:r>
              <a:rPr lang="en-US" altLang="en-US"/>
              <a:t>ö</a:t>
            </a:r>
            <a:r>
              <a:rPr lang="en-US" altLang="tr-TR"/>
              <a:t>kertmesi (Login Storm).</a:t>
            </a:r>
            <a:endParaRPr lang="en-US" altLang="tr-T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 dirty="0"/>
              <a:t>Starvation Ger</a:t>
            </a:r>
            <a:r>
              <a:rPr lang="" altLang="en-US" dirty="0"/>
              <a:t>ç</a:t>
            </a:r>
            <a:r>
              <a:rPr lang="en-US" altLang="tr-TR" dirty="0"/>
              <a:t>ekte Nerede Olur?</a:t>
            </a:r>
            <a:endParaRPr lang="en-US" altLang="tr-TR" dirty="0"/>
          </a:p>
        </p:txBody>
      </p:sp>
      <p:sp>
        <p:nvSpPr>
          <p:cNvPr id="3" name="İçerik Yer Tutucu 2"/>
          <p:cNvSpPr/>
          <p:nvPr>
            <p:ph idx="1"/>
          </p:nvPr>
        </p:nvSpPr>
        <p:spPr/>
        <p:txBody>
          <a:bodyPr/>
          <a:p>
            <a:r>
              <a:rPr lang="en-US" altLang="tr-TR"/>
              <a:t>Yaz</a:t>
            </a:r>
            <a:r>
              <a:rPr lang="" altLang="en-US"/>
              <a:t>ı</a:t>
            </a:r>
            <a:r>
              <a:rPr lang="en-US" altLang="tr-TR"/>
              <a:t>c</a:t>
            </a:r>
            <a:r>
              <a:rPr lang="" altLang="en-US"/>
              <a:t>ı</a:t>
            </a:r>
            <a:r>
              <a:rPr lang="en-US" altLang="tr-TR"/>
              <a:t> kuyru</a:t>
            </a:r>
            <a:r>
              <a:rPr lang="" altLang="en-US"/>
              <a:t>ğ</a:t>
            </a:r>
            <a:r>
              <a:rPr lang="en-US" altLang="tr-TR"/>
              <a:t>unda s</a:t>
            </a:r>
            <a:r>
              <a:rPr lang="en-US" altLang="en-US"/>
              <a:t>ü</a:t>
            </a:r>
            <a:r>
              <a:rPr lang="en-US" altLang="tr-TR"/>
              <a:t>rekli k</a:t>
            </a:r>
            <a:r>
              <a:rPr lang="en-US" altLang="en-US"/>
              <a:t>ü</a:t>
            </a:r>
            <a:r>
              <a:rPr lang="" altLang="en-US"/>
              <a:t>ç</a:t>
            </a:r>
            <a:r>
              <a:rPr lang="en-US" altLang="en-US"/>
              <a:t>ü</a:t>
            </a:r>
            <a:r>
              <a:rPr lang="en-US" altLang="tr-TR"/>
              <a:t>k dosyalara </a:t>
            </a:r>
            <a:r>
              <a:rPr lang="en-US" altLang="en-US"/>
              <a:t>ö</a:t>
            </a:r>
            <a:r>
              <a:rPr lang="en-US" altLang="tr-TR"/>
              <a:t>ncelik verilmesi.</a:t>
            </a:r>
            <a:endParaRPr lang="en-US" altLang="tr-TR"/>
          </a:p>
          <a:p>
            <a:r>
              <a:rPr lang="en-US" altLang="tr-TR"/>
              <a:t>"Noisy Neighbor" etkisi. Yan sunucunun t</a:t>
            </a:r>
            <a:r>
              <a:rPr lang="en-US" altLang="en-US"/>
              <a:t>ü</a:t>
            </a:r>
            <a:r>
              <a:rPr lang="en-US" altLang="tr-TR"/>
              <a:t>m disk g</a:t>
            </a:r>
            <a:r>
              <a:rPr lang="en-US" altLang="en-US"/>
              <a:t>ü</a:t>
            </a:r>
            <a:r>
              <a:rPr lang="en-US" altLang="tr-TR"/>
              <a:t>c</a:t>
            </a:r>
            <a:r>
              <a:rPr lang="en-US" altLang="en-US"/>
              <a:t>ü</a:t>
            </a:r>
            <a:r>
              <a:rPr lang="en-US" altLang="tr-TR"/>
              <a:t>n</a:t>
            </a:r>
            <a:r>
              <a:rPr lang="en-US" altLang="en-US"/>
              <a:t>ü</a:t>
            </a:r>
            <a:r>
              <a:rPr lang="en-US" altLang="tr-TR"/>
              <a:t> s</a:t>
            </a:r>
            <a:r>
              <a:rPr lang="en-US" altLang="en-US"/>
              <a:t>ö</a:t>
            </a:r>
            <a:r>
              <a:rPr lang="en-US" altLang="tr-TR"/>
              <a:t>m</a:t>
            </a:r>
            <a:r>
              <a:rPr lang="en-US" altLang="en-US"/>
              <a:t>ü</a:t>
            </a:r>
            <a:r>
              <a:rPr lang="en-US" altLang="tr-TR"/>
              <a:t>rmesi.</a:t>
            </a:r>
            <a:endParaRPr lang="en-US" altLang="tr-TR"/>
          </a:p>
        </p:txBody>
      </p:sp>
      <p:pic>
        <p:nvPicPr>
          <p:cNvPr id="4" name="Resim 3" descr="noisy-neighbor-multip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900" y="3361055"/>
            <a:ext cx="10858500" cy="3035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0</TotalTime>
  <Words>7414</Words>
  <Application>WPS Sunum</Application>
  <PresentationFormat>Geniş ekran</PresentationFormat>
  <Paragraphs>240</Paragraphs>
  <Slides>23</Slides>
  <Notes>1</Notes>
  <HiddenSlides>0</HiddenSlides>
  <MMClips>7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SimSun</vt:lpstr>
      <vt:lpstr>Wingdings</vt:lpstr>
      <vt:lpstr>Georgia</vt:lpstr>
      <vt:lpstr>Wingdings 2</vt:lpstr>
      <vt:lpstr>Wingdings</vt:lpstr>
      <vt:lpstr>Calibri</vt:lpstr>
      <vt:lpstr>Microsoft YaHei</vt:lpstr>
      <vt:lpstr>Arial Unicode MS</vt:lpstr>
      <vt:lpstr>Google Sans Text</vt:lpstr>
      <vt:lpstr>Segoe Print</vt:lpstr>
      <vt:lpstr>Eğitim sunusu</vt:lpstr>
      <vt:lpstr>PARALEL HESAPLAMA</vt:lpstr>
      <vt:lpstr>Deadlock(Ölümcül Kilitlenme)</vt:lpstr>
      <vt:lpstr>Deadlock(Ölümcül Kilitlenme)</vt:lpstr>
      <vt:lpstr>Deadlock(Ölümcül Kilitlenme)</vt:lpstr>
      <vt:lpstr>Deadlock(Ölümcül Kilitlenme)</vt:lpstr>
      <vt:lpstr>Deadlock Şartları</vt:lpstr>
      <vt:lpstr>Deadlock(Ölümcül Kilitlenme)</vt:lpstr>
      <vt:lpstr>Deadlock(Ölümcül Kilitlenme)</vt:lpstr>
      <vt:lpstr>Deadlock(Ölümcül Kilitlenme)</vt:lpstr>
      <vt:lpstr>Deadlock(Ölümcül Kilitlenme)</vt:lpstr>
      <vt:lpstr>Deadlock(Ölümcül Kilitlenme)</vt:lpstr>
      <vt:lpstr>Nasıl Çözülür?</vt:lpstr>
      <vt:lpstr>Deadlock Çözüm Yöntemleri</vt:lpstr>
      <vt:lpstr>Deadlock(Ölümcül Kilitlenme)</vt:lpstr>
      <vt:lpstr>Livelock(Yaşayan Kilitlenme)</vt:lpstr>
      <vt:lpstr>Livelock(Yaşayan Kilitlenme)</vt:lpstr>
      <vt:lpstr>Livelock(Yaşayan Kilitlenme)</vt:lpstr>
      <vt:lpstr>Starvation (Açlık/Kıtlık)</vt:lpstr>
      <vt:lpstr>Starvation (Açlık/Kıtlık)</vt:lpstr>
      <vt:lpstr>Starvation (Açlık/Kıtlık)</vt:lpstr>
      <vt:lpstr>Starvation (Açlık/Kıtlık)</vt:lpstr>
      <vt:lpstr>Deadlock Gerçekte Nerede Olur?</vt:lpstr>
      <vt:lpstr>Livelock Gerçekte Nerede Olur?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PARALEL HESAPLAMA</dc:title>
  <dc:creator>Zafer</dc:creator>
  <cp:lastModifiedBy>Zafer</cp:lastModifiedBy>
  <cp:revision>89</cp:revision>
  <dcterms:created xsi:type="dcterms:W3CDTF">2023-12-11T08:59:00Z</dcterms:created>
  <dcterms:modified xsi:type="dcterms:W3CDTF">2026-01-04T19:35:54Z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CV">
    <vt:lpwstr>8B72077D19DA4B009CA007559729E448_12</vt:lpwstr>
  </property>
  <property fmtid="{D5CDD505-2E9C-101B-9397-08002B2CF9AE}" pid="4" name="KSOProductBuildVer">
    <vt:lpwstr>1055-12.2.0.22549</vt:lpwstr>
  </property>
</Properties>
</file>